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61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quick demo if possible. The goal is not to make everyone a production Shiny developer in one hour; it is to give them a mental model and enough syntax to build a small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set expectations. The course is concept-first: enough code to make ideas concrete, but not a full app-building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Shiny is useful when the same analysis has many plausible views or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concrete example helps tie UI, server, inputs, outputs, and reactivity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 and ask learners to point to the UI and server parts in a real app.R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dwell on every function yet. This is the reference skeleton learners can return to throughout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users do not see variable names; they see labels. Bad labels create analysis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is the matching ID. Learners often understand this once they see the same string in UI and server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learners to scan the snippet and identify every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Excel analogy: a cell formula updates when referenced cells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practical. Avoid advanced explanations of observers unless learners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often the first place learners can improve performance: do not read huge static files inside renderPlot if they never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input$file is metadata about the uploaded file; datapath points to the temporary uploaded file on the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connects app robustness to scientific reproducibility.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practical agenda for the hands-on portion.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use this as an interactive diagnostic: show a broken app, ask learners which symptom they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this back to biological collaborators. The app should guide interpretation, not just display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manageable next step. Do not send learners toward a large production app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learners to name one existing plot or summary they could make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Apps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85800" y="30449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biological data visualization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should be able to do by the end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24128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Explain the two main parts of a Shiny app: UI and server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Connect an input control to a plot, table, or text output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Understand reactivity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Load a biological dataset safely into an app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Recognize common Shiny mistakes and how to debug them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5532120"/>
            <a:ext cx="9418320" cy="502920"/>
          </a:xfrm>
          <a:prstGeom prst="rect">
            <a:avLst/>
          </a:prstGeom>
          <a:solidFill>
            <a:srgbClr val="F1ECF8"/>
          </a:solidFill>
          <a:ln w="12700">
            <a:solidFill>
              <a:srgbClr val="D9E2E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example: a simple gene expression explorer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Shiny for biological visualization?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53312"/>
            <a:ext cx="1051560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Shiny turns R code into an interactive web app.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05840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Let collaborators explore results without touching R code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Expose filters, thresholds, sample groups, and gene choices to users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familiar R tools: ggplot2, dplyr, readr, Bioconductor objects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68680" y="5532120"/>
            <a:ext cx="10241280" cy="566928"/>
          </a:xfrm>
          <a:prstGeom prst="rect">
            <a:avLst/>
          </a:prstGeom>
          <a:solidFill>
            <a:srgbClr val="E8F4F6"/>
          </a:solidFill>
          <a:ln w="12700">
            <a:solidFill>
              <a:srgbClr val="D9E2EC"/>
            </a:solidFill>
          </a:ln>
        </p:spPr>
        <p:txBody>
          <a:bodyPr wrap="square" lIns="1905" tIns="1905" rIns="1905" bIns="190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bio examples: volcano plots, expression heatmaps, PCA, metadata summaries, single-cell cluster viewers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EXAMPLE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we will keep in mind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603504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Expression Explorer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566928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selects a gene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 chooses a sample group or condition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shows an expression plot and a small data preview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App updates automatically when the choice changes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040880" y="1828800"/>
            <a:ext cx="1828800" cy="777240"/>
          </a:xfrm>
          <a:prstGeom prst="rect">
            <a:avLst/>
          </a:prstGeom>
          <a:solidFill>
            <a:srgbClr val="E8F4F6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/ group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0" y="1975104"/>
            <a:ext cx="457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464040" y="1828800"/>
            <a:ext cx="1828800" cy="777240"/>
          </a:xfrm>
          <a:prstGeom prst="rect">
            <a:avLst/>
          </a:prstGeom>
          <a:solidFill>
            <a:srgbClr val="F6F7F9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data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131552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275320" y="3383280"/>
            <a:ext cx="2560320" cy="822960"/>
          </a:xfrm>
          <a:prstGeom prst="rect">
            <a:avLst/>
          </a:prstGeom>
          <a:solidFill>
            <a:srgbClr val="F1ECF8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+ table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766560" y="5166360"/>
            <a:ext cx="4754880" cy="621792"/>
          </a:xfrm>
          <a:prstGeom prst="rect">
            <a:avLst/>
          </a:prstGeom>
          <a:solidFill>
            <a:srgbClr val="FAFBFD"/>
          </a:solidFill>
          <a:ln w="12700">
            <a:solidFill>
              <a:srgbClr val="D9E2E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one small app demonstrates most core Shiny ideas.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Shiny app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44752"/>
            <a:ext cx="3017520" cy="914400"/>
          </a:xfrm>
          <a:prstGeom prst="rect">
            <a:avLst/>
          </a:prstGeom>
          <a:solidFill>
            <a:srgbClr val="E8F4F6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user sees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041648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26280" y="1444752"/>
            <a:ext cx="3017520" cy="914400"/>
          </a:xfrm>
          <a:prstGeom prst="rect">
            <a:avLst/>
          </a:prstGeom>
          <a:solidFill>
            <a:srgbClr val="F6F7F9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app does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62672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138160" y="1444752"/>
            <a:ext cx="3154680" cy="914400"/>
          </a:xfrm>
          <a:prstGeom prst="rect">
            <a:avLst/>
          </a:prstGeom>
          <a:solidFill>
            <a:srgbClr val="F1ECF8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Shiny app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 session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102412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UI code creates pages, controls, and output placeholders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Server code reads inputs, runs R code, and renders outputs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same input/output IDs link the two parts together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Shiny app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6766560" cy="4846320"/>
          </a:xfrm>
          <a:prstGeom prst="rect">
            <a:avLst/>
          </a:prstGeom>
          <a:solidFill>
            <a:srgbClr val="F6F7F9"/>
          </a:solidFill>
          <a:ln w="12700">
            <a:solidFill>
              <a:srgbClr val="D9E2EC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r>
              <a:rPr lang="en-US" sz="1470" dirty="0" err="1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1470" dirty="0" err="1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fluidPage</a:t>
            </a:r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</a:p>
          <a:p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70" dirty="0" err="1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mainPanel</a:t>
            </a:r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</a:p>
          <a:p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70" dirty="0" err="1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verbatimTextOutput</a:t>
            </a:r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r>
              <a:rPr lang="en-US" sz="1470" dirty="0" err="1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welcome_msg</a:t>
            </a:r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</a:p>
          <a:p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</a:p>
          <a:p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endParaRPr lang="en-US" sz="1470" dirty="0">
              <a:solidFill>
                <a:srgbClr val="111827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&lt;- function(input, output, session) {</a:t>
            </a:r>
          </a:p>
          <a:p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70" dirty="0" err="1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output$welcome_msg</a:t>
            </a:r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&lt;- </a:t>
            </a:r>
            <a:r>
              <a:rPr lang="en-US" sz="1470" dirty="0" err="1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renderText</a:t>
            </a:r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</a:p>
          <a:p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paste("Hello world")</a:t>
            </a:r>
          </a:p>
          <a:p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</a:p>
          <a:p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endParaRPr lang="en-US" sz="1470" dirty="0">
              <a:solidFill>
                <a:srgbClr val="111827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1470" dirty="0" err="1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shinyApp</a:t>
            </a:r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470" dirty="0" err="1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470" dirty="0" err="1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4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server = server)</a:t>
            </a:r>
            <a:endParaRPr lang="en-US" sz="1470" dirty="0"/>
          </a:p>
        </p:txBody>
      </p:sp>
      <p:sp>
        <p:nvSpPr>
          <p:cNvPr id="9" name="Text 6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UI: controls and layout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UI is the app's visible structure.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920240" cy="630936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743200" y="2148840"/>
            <a:ext cx="2880360" cy="630936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623560" y="2148840"/>
            <a:ext cx="5760720" cy="630936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example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2779776"/>
            <a:ext cx="19202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selectInput()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2743200" y="2779776"/>
            <a:ext cx="288036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option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5623560" y="2779776"/>
            <a:ext cx="576072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Gene, sample group, chromosome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2960" y="3410712"/>
            <a:ext cx="19202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sliderInput()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743200" y="3410712"/>
            <a:ext cx="288036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numeric range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623560" y="3410712"/>
            <a:ext cx="576072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 cutoff, expression threshold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2960" y="4041648"/>
            <a:ext cx="19202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checkboxInput()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743200" y="4041648"/>
            <a:ext cx="288036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option on/off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623560" y="4041648"/>
            <a:ext cx="576072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labels, log-transform data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2960" y="4672584"/>
            <a:ext cx="192024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fileInput()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743200" y="4672584"/>
            <a:ext cx="288036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file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5623560" y="4672584"/>
            <a:ext cx="5760720" cy="630936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 matrix or metadata CSV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594360" y="5715000"/>
            <a:ext cx="10561320" cy="502920"/>
          </a:xfrm>
          <a:prstGeom prst="rect">
            <a:avLst/>
          </a:prstGeom>
          <a:solidFill>
            <a:srgbClr val="FAFBFD"/>
          </a:solidFill>
          <a:ln w="12700">
            <a:solidFill>
              <a:srgbClr val="D9E2E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UI labels are part of the analysis: use units, clear names, and sensible defaults.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Outputs: placeholders and render functions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298448"/>
            <a:ext cx="10241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displayed result has two pieces.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206240" cy="914400"/>
          </a:xfrm>
          <a:prstGeom prst="rect">
            <a:avLst/>
          </a:prstGeom>
          <a:solidFill>
            <a:srgbClr val="E8F4F6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placeholder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plotOutput("expr_plot")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257800" y="2267712"/>
            <a:ext cx="1645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95160" y="2011680"/>
            <a:ext cx="4251960" cy="914400"/>
          </a:xfrm>
          <a:prstGeom prst="rect">
            <a:avLst/>
          </a:prstGeom>
          <a:solidFill>
            <a:srgbClr val="F1ECF8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renderer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output$expr_plot &lt;- renderPlot({...})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3291840" cy="438912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goal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0" y="3657600"/>
            <a:ext cx="3291840" cy="438912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function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3657600"/>
            <a:ext cx="3749040" cy="438912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function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096512"/>
            <a:ext cx="3291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06240" y="4096512"/>
            <a:ext cx="3291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plotOutput()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4096512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renderPlot()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535424"/>
            <a:ext cx="3291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06240" y="4535424"/>
            <a:ext cx="3291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tableOutput()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4535424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renderTable()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974336"/>
            <a:ext cx="3291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4974336"/>
            <a:ext cx="3291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textOutput()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0" y="4974336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renderText()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5413248"/>
            <a:ext cx="3291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Console-style summary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06240" y="5413248"/>
            <a:ext cx="32918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verbatimTextOutput()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0" y="5413248"/>
            <a:ext cx="3749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renderPrint()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 + OUTPUTS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 is the contract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5669280" cy="2788920"/>
          </a:xfrm>
          <a:prstGeom prst="rect">
            <a:avLst/>
          </a:prstGeom>
          <a:solidFill>
            <a:srgbClr val="F6F7F9"/>
          </a:solidFill>
          <a:ln w="12700">
            <a:solidFill>
              <a:srgbClr val="D9E2EC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UI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selectInput("gene", "Gene", choices = gene_names)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plotOutput("expr_plot")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Server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input$gene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output$expr_plot &lt;- renderPlot({ ... })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03720" y="1417320"/>
            <a:ext cx="39319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to remember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903720" y="2057400"/>
            <a:ext cx="411480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IDs are strings in the UI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Inputs are read as `input$id`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Outputs are assigned as `output$id`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IDs must match exactly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solidFill>
            <a:srgbClr val="F6F7F9"/>
          </a:solidFill>
          <a:ln w="12700">
            <a:solidFill>
              <a:srgbClr val="D9E2E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Typo example: "expr_plot" is not the same as "expression_plot".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Reactivity: the core mental model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07592"/>
            <a:ext cx="10789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code reruns when the values it depends on change.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2514600" cy="914400"/>
          </a:xfrm>
          <a:prstGeom prst="rect">
            <a:avLst/>
          </a:prstGeom>
          <a:solidFill>
            <a:srgbClr val="E8F4F6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changes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input$gene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11880" y="2496312"/>
            <a:ext cx="411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60520" y="2240280"/>
            <a:ext cx="2514600" cy="914400"/>
          </a:xfrm>
          <a:prstGeom prst="rect">
            <a:avLst/>
          </a:prstGeom>
          <a:solidFill>
            <a:srgbClr val="F6F7F9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Filtered data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expr_data()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858000" y="2496312"/>
            <a:ext cx="411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06640" y="2240280"/>
            <a:ext cx="2788920" cy="914400"/>
          </a:xfrm>
          <a:prstGeom prst="rect">
            <a:avLst/>
          </a:prstGeom>
          <a:solidFill>
            <a:srgbClr val="F1ECF8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redraws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output$expr_plot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996696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Think of Shiny as a dependency graph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Inputs are the starting points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Outputs update automatically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 don’t have to write manual refresh logic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reactive tools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261872"/>
            <a:ext cx="1828800" cy="746760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540" dirty="0"/>
          </a:p>
        </p:txBody>
      </p:sp>
      <p:sp>
        <p:nvSpPr>
          <p:cNvPr id="6" name="Text 4"/>
          <p:cNvSpPr/>
          <p:nvPr/>
        </p:nvSpPr>
        <p:spPr>
          <a:xfrm>
            <a:off x="2514600" y="1261872"/>
            <a:ext cx="3703320" cy="746760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for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6217920" y="1261872"/>
            <a:ext cx="5394960" cy="746760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rule of thumb</a:t>
            </a:r>
            <a:endParaRPr lang="en-US" sz="1540" dirty="0"/>
          </a:p>
        </p:txBody>
      </p:sp>
      <p:sp>
        <p:nvSpPr>
          <p:cNvPr id="8" name="Text 6"/>
          <p:cNvSpPr/>
          <p:nvPr/>
        </p:nvSpPr>
        <p:spPr>
          <a:xfrm>
            <a:off x="685800" y="2008632"/>
            <a:ext cx="182880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render*()</a:t>
            </a:r>
            <a:endParaRPr lang="en-US" sz="1540" dirty="0"/>
          </a:p>
        </p:txBody>
      </p:sp>
      <p:sp>
        <p:nvSpPr>
          <p:cNvPr id="9" name="Text 7"/>
          <p:cNvSpPr/>
          <p:nvPr/>
        </p:nvSpPr>
        <p:spPr>
          <a:xfrm>
            <a:off x="2514600" y="2008632"/>
            <a:ext cx="370332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visible output</a:t>
            </a:r>
            <a:endParaRPr lang="en-US" sz="1540" dirty="0"/>
          </a:p>
        </p:txBody>
      </p:sp>
      <p:sp>
        <p:nvSpPr>
          <p:cNvPr id="10" name="Text 8"/>
          <p:cNvSpPr/>
          <p:nvPr/>
        </p:nvSpPr>
        <p:spPr>
          <a:xfrm>
            <a:off x="6217920" y="2008632"/>
            <a:ext cx="539496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inside output$id &lt;- render...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685800" y="2755392"/>
            <a:ext cx="182880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reactive()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2514600" y="2755392"/>
            <a:ext cx="370332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computed data</a:t>
            </a:r>
            <a:endParaRPr lang="en-US" sz="1540" dirty="0"/>
          </a:p>
        </p:txBody>
      </p:sp>
      <p:sp>
        <p:nvSpPr>
          <p:cNvPr id="13" name="Text 11"/>
          <p:cNvSpPr/>
          <p:nvPr/>
        </p:nvSpPr>
        <p:spPr>
          <a:xfrm>
            <a:off x="6217920" y="2755392"/>
            <a:ext cx="539496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it with parentheses: data()</a:t>
            </a:r>
            <a:endParaRPr lang="en-US" sz="1540" dirty="0"/>
          </a:p>
        </p:txBody>
      </p:sp>
      <p:sp>
        <p:nvSpPr>
          <p:cNvPr id="14" name="Text 12"/>
          <p:cNvSpPr/>
          <p:nvPr/>
        </p:nvSpPr>
        <p:spPr>
          <a:xfrm>
            <a:off x="685800" y="3502152"/>
            <a:ext cx="182880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observeEvent()</a:t>
            </a:r>
            <a:endParaRPr lang="en-US" sz="1540" dirty="0"/>
          </a:p>
        </p:txBody>
      </p:sp>
      <p:sp>
        <p:nvSpPr>
          <p:cNvPr id="15" name="Text 13"/>
          <p:cNvSpPr/>
          <p:nvPr/>
        </p:nvSpPr>
        <p:spPr>
          <a:xfrm>
            <a:off x="2514600" y="3502152"/>
            <a:ext cx="370332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something after an event</a:t>
            </a:r>
            <a:endParaRPr lang="en-US" sz="1540" dirty="0"/>
          </a:p>
        </p:txBody>
      </p:sp>
      <p:sp>
        <p:nvSpPr>
          <p:cNvPr id="16" name="Text 14"/>
          <p:cNvSpPr/>
          <p:nvPr/>
        </p:nvSpPr>
        <p:spPr>
          <a:xfrm>
            <a:off x="6217920" y="3502152"/>
            <a:ext cx="539496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for buttons or downloads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685800" y="4248912"/>
            <a:ext cx="182880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req()</a:t>
            </a:r>
            <a:endParaRPr lang="en-US" sz="1540" dirty="0"/>
          </a:p>
        </p:txBody>
      </p:sp>
      <p:sp>
        <p:nvSpPr>
          <p:cNvPr id="18" name="Text 16"/>
          <p:cNvSpPr/>
          <p:nvPr/>
        </p:nvSpPr>
        <p:spPr>
          <a:xfrm>
            <a:off x="2514600" y="4248912"/>
            <a:ext cx="370332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until an input exists</a:t>
            </a:r>
            <a:endParaRPr lang="en-US" sz="1540" dirty="0"/>
          </a:p>
        </p:txBody>
      </p:sp>
      <p:sp>
        <p:nvSpPr>
          <p:cNvPr id="19" name="Text 17"/>
          <p:cNvSpPr/>
          <p:nvPr/>
        </p:nvSpPr>
        <p:spPr>
          <a:xfrm>
            <a:off x="6217920" y="4248912"/>
            <a:ext cx="539496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file uploads and selections</a:t>
            </a:r>
            <a:endParaRPr lang="en-US" sz="1540" dirty="0"/>
          </a:p>
        </p:txBody>
      </p:sp>
      <p:sp>
        <p:nvSpPr>
          <p:cNvPr id="20" name="Text 18"/>
          <p:cNvSpPr/>
          <p:nvPr/>
        </p:nvSpPr>
        <p:spPr>
          <a:xfrm>
            <a:off x="685800" y="4995672"/>
            <a:ext cx="182880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validate()/need()</a:t>
            </a:r>
            <a:endParaRPr lang="en-US" sz="1540" dirty="0"/>
          </a:p>
        </p:txBody>
      </p:sp>
      <p:sp>
        <p:nvSpPr>
          <p:cNvPr id="21" name="Text 19"/>
          <p:cNvSpPr/>
          <p:nvPr/>
        </p:nvSpPr>
        <p:spPr>
          <a:xfrm>
            <a:off x="2514600" y="4995672"/>
            <a:ext cx="370332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user-facing error messages</a:t>
            </a:r>
            <a:endParaRPr lang="en-US" sz="1540" dirty="0"/>
          </a:p>
        </p:txBody>
      </p:sp>
      <p:sp>
        <p:nvSpPr>
          <p:cNvPr id="22" name="Text 20"/>
          <p:cNvSpPr/>
          <p:nvPr/>
        </p:nvSpPr>
        <p:spPr>
          <a:xfrm>
            <a:off x="6217920" y="4995672"/>
            <a:ext cx="5394960" cy="746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5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this over app crashes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914400" y="5806440"/>
            <a:ext cx="10241280" cy="457200"/>
          </a:xfrm>
          <a:prstGeom prst="rect">
            <a:avLst/>
          </a:prstGeom>
          <a:solidFill>
            <a:srgbClr val="E8F4F6"/>
          </a:solidFill>
          <a:ln w="12700">
            <a:solidFill>
              <a:srgbClr val="D9E2EC"/>
            </a:solidFill>
          </a:ln>
        </p:spPr>
        <p:txBody>
          <a:bodyPr wrap="square" lIns="1905" tIns="1905" rIns="1905" bIns="1905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beginner apps need render*(), reactive(), and req() before anything more advanced.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where code lives matters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2468880" cy="605790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200400" y="1417320"/>
            <a:ext cx="3017520" cy="605790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runs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217920" y="1417320"/>
            <a:ext cx="5349240" cy="605790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uses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31520" y="2023110"/>
            <a:ext cx="2468880" cy="60579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area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3200400" y="2023110"/>
            <a:ext cx="3017520" cy="60579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when the app starts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217920" y="2023110"/>
            <a:ext cx="5349240" cy="60579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Libraries, constants, static reference data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31520" y="2628900"/>
            <a:ext cx="2468880" cy="60579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server()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200400" y="2628900"/>
            <a:ext cx="3017520" cy="60579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per user session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217920" y="2628900"/>
            <a:ext cx="5349240" cy="60579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Session-specific setup and reactive definitions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1520" y="3234690"/>
            <a:ext cx="2468880" cy="60579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render/reactive blocks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200400" y="3234690"/>
            <a:ext cx="3017520" cy="60579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Whenever dependencies change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217920" y="3234690"/>
            <a:ext cx="5349240" cy="60579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Filtering, plotting, summaries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68680" y="4224528"/>
            <a:ext cx="10424160" cy="1828800"/>
          </a:xfrm>
          <a:prstGeom prst="rect">
            <a:avLst/>
          </a:prstGeom>
          <a:solidFill>
            <a:srgbClr val="F6F7F9"/>
          </a:solidFill>
          <a:ln w="12700">
            <a:solidFill>
              <a:srgbClr val="D9E2EC"/>
            </a:solidFill>
          </a:ln>
        </p:spPr>
        <p:txBody>
          <a:bodyPr wrap="square" lIns="2286" tIns="2286" rIns="2286" bIns="2286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Global: loaded once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reference_genes &lt;- readr::read_csv("genes.csv")</a:t>
            </a:r>
            <a:endParaRPr lang="en-US" sz="1460" dirty="0"/>
          </a:p>
          <a:p>
            <a:pPr marL="0" indent="0">
              <a:buNone/>
            </a:pP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&lt;- function(input, output, session) {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Per-session reactive logic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selected_data &lt;- reactive({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filter(reference_genes, gene == input$gene)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</a:t>
            </a:r>
            <a:endParaRPr lang="en-US" sz="1460" dirty="0"/>
          </a:p>
          <a:p>
            <a:pPr marL="0" indent="0">
              <a:buNone/>
            </a:pPr>
            <a:r>
              <a:rPr lang="en-US" sz="146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60" dirty="0"/>
          </a:p>
        </p:txBody>
      </p:sp>
      <p:sp>
        <p:nvSpPr>
          <p:cNvPr id="19" name="Text 16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 biological data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298448"/>
            <a:ext cx="5669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common approaches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557784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a fixed dataset with the app</a:t>
            </a:r>
            <a:endParaRPr lang="en-US" sz="2200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users upload a file with `fileInput()`</a:t>
            </a:r>
            <a:endParaRPr lang="en-US" sz="2200" dirty="0"/>
          </a:p>
          <a:p>
            <a:pPr marL="0" indent="0">
              <a:buNone/>
            </a:pPr>
            <a:endParaRPr lang="en-US" sz="22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22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2200" dirty="0">
              <a:solidFill>
                <a:srgbClr val="1F2937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expression data and sample metadata clearly separated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29400" y="1389888"/>
            <a:ext cx="4754880" cy="2697480"/>
          </a:xfrm>
          <a:prstGeom prst="rect">
            <a:avLst/>
          </a:prstGeom>
          <a:solidFill>
            <a:srgbClr val="F6F7F9"/>
          </a:solidFill>
          <a:ln w="12700">
            <a:solidFill>
              <a:srgbClr val="D9E2EC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5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&lt;- reactive({</a:t>
            </a:r>
            <a:endParaRPr lang="en-US" sz="1570" dirty="0"/>
          </a:p>
          <a:p>
            <a:pPr marL="0" indent="0">
              <a:buNone/>
            </a:pPr>
            <a:r>
              <a:rPr lang="en-US" sz="15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req(input$file)</a:t>
            </a:r>
            <a:endParaRPr lang="en-US" sz="1570" dirty="0"/>
          </a:p>
          <a:p>
            <a:pPr marL="0" indent="0">
              <a:buNone/>
            </a:pPr>
            <a:r>
              <a:rPr lang="en-US" sz="15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readr::read_csv(input$file$datapath)</a:t>
            </a:r>
            <a:endParaRPr lang="en-US" sz="1570" dirty="0"/>
          </a:p>
          <a:p>
            <a:pPr marL="0" indent="0">
              <a:buNone/>
            </a:pPr>
            <a:r>
              <a:rPr lang="en-US" sz="15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570" dirty="0"/>
          </a:p>
          <a:p>
            <a:pPr marL="0" indent="0">
              <a:buNone/>
            </a:pPr>
            <a:endParaRPr lang="en-US" sz="1570" dirty="0"/>
          </a:p>
          <a:p>
            <a:pPr marL="0" indent="0">
              <a:buNone/>
            </a:pPr>
            <a:r>
              <a:rPr lang="en-US" sz="15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output$preview &lt;- renderTable({</a:t>
            </a:r>
            <a:endParaRPr lang="en-US" sz="1570" dirty="0"/>
          </a:p>
          <a:p>
            <a:pPr marL="0" indent="0">
              <a:buNone/>
            </a:pPr>
            <a:r>
              <a:rPr lang="en-US" sz="15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head(data())</a:t>
            </a:r>
            <a:endParaRPr lang="en-US" sz="1570" dirty="0"/>
          </a:p>
          <a:p>
            <a:pPr marL="0" indent="0">
              <a:buNone/>
            </a:pPr>
            <a:r>
              <a:rPr lang="en-US" sz="157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570" dirty="0"/>
          </a:p>
        </p:txBody>
      </p:sp>
      <p:sp>
        <p:nvSpPr>
          <p:cNvPr id="8" name="Text 6"/>
          <p:cNvSpPr/>
          <p:nvPr/>
        </p:nvSpPr>
        <p:spPr>
          <a:xfrm>
            <a:off x="868680" y="5074920"/>
            <a:ext cx="10332720" cy="713232"/>
          </a:xfrm>
          <a:prstGeom prst="rect">
            <a:avLst/>
          </a:prstGeom>
          <a:solidFill>
            <a:srgbClr val="E8F4F6"/>
          </a:solidFill>
          <a:ln w="12700">
            <a:solidFill>
              <a:srgbClr val="D9E2E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biological data, always check: file format, required columns, sample IDs, units, and missing values.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data before plotting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6766560" cy="5029200"/>
          </a:xfrm>
          <a:prstGeom prst="rect">
            <a:avLst/>
          </a:prstGeom>
          <a:solidFill>
            <a:srgbClr val="F6F7F9"/>
          </a:solidFill>
          <a:ln w="12700">
            <a:solidFill>
              <a:srgbClr val="D9E2EC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output$expr_plot &lt;- renderPlot({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 &lt;- data()</a:t>
            </a:r>
            <a:endParaRPr lang="en-US" sz="1420" dirty="0"/>
          </a:p>
          <a:p>
            <a:pPr marL="0" indent="0">
              <a:buNone/>
            </a:pP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validate(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need("gene" %in% names(df), "Missing gene column"),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need("expression" %in% names(df), "Missing expression")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420" dirty="0"/>
          </a:p>
          <a:p>
            <a:pPr marL="0" indent="0">
              <a:buNone/>
            </a:pP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plot_expression(df, input$gene)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78181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818120" y="2057400"/>
            <a:ext cx="384048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Bio datasets often arrive in slightly different formats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helpful message is better than a mysterious error</a:t>
            </a:r>
            <a:endParaRPr lang="en-US" sz="2050" dirty="0"/>
          </a:p>
          <a:p>
            <a:pPr marL="0" indent="0">
              <a:buNone/>
            </a:pPr>
            <a:r>
              <a:rPr lang="en-US" sz="2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Validation protects both the user and the analysis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7818120" y="5166360"/>
            <a:ext cx="3657600" cy="713232"/>
          </a:xfrm>
          <a:prstGeom prst="rect">
            <a:avLst/>
          </a:prstGeom>
          <a:solidFill>
            <a:srgbClr val="F1ECF8"/>
          </a:solidFill>
          <a:ln w="12700">
            <a:solidFill>
              <a:srgbClr val="D9E2EC"/>
            </a:solidFill>
          </a:ln>
        </p:spPr>
        <p:txBody>
          <a:bodyPr wrap="square" lIns="1905" tIns="1905" rIns="1905" bIns="1905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validation for assumptions you would state in a methods section.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path for the example app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7040880" cy="4206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with a static plot in plain R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 a `selectInput()` for gene choice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Add `plotOutput()` and `renderPlot()`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Move filtering into a `reactive()` expression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Add a table preview and simple validation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Clean up labels and default values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8458200" y="1691640"/>
            <a:ext cx="2057400" cy="685800"/>
          </a:xfrm>
          <a:prstGeom prst="rect">
            <a:avLst/>
          </a:prstGeom>
          <a:solidFill>
            <a:srgbClr val="F6F7F9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R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253728" y="2514600"/>
            <a:ext cx="411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458200" y="2971800"/>
            <a:ext cx="2057400" cy="685800"/>
          </a:xfrm>
          <a:prstGeom prst="rect">
            <a:avLst/>
          </a:prstGeom>
          <a:solidFill>
            <a:srgbClr val="E8F4F6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253728" y="3794760"/>
            <a:ext cx="41148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58200" y="4251960"/>
            <a:ext cx="2057400" cy="685800"/>
          </a:xfrm>
          <a:prstGeom prst="rect">
            <a:avLst/>
          </a:prstGeom>
          <a:solidFill>
            <a:srgbClr val="F1ECF8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Shiny app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 and quick fixes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2788920" cy="830580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</a:t>
            </a:r>
            <a:endParaRPr lang="en-US" sz="1460" dirty="0"/>
          </a:p>
        </p:txBody>
      </p:sp>
      <p:sp>
        <p:nvSpPr>
          <p:cNvPr id="6" name="Text 4"/>
          <p:cNvSpPr/>
          <p:nvPr/>
        </p:nvSpPr>
        <p:spPr>
          <a:xfrm>
            <a:off x="3429000" y="1261872"/>
            <a:ext cx="3749040" cy="830580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cause</a:t>
            </a:r>
            <a:endParaRPr lang="en-US" sz="1460" dirty="0"/>
          </a:p>
        </p:txBody>
      </p:sp>
      <p:sp>
        <p:nvSpPr>
          <p:cNvPr id="7" name="Text 5"/>
          <p:cNvSpPr/>
          <p:nvPr/>
        </p:nvSpPr>
        <p:spPr>
          <a:xfrm>
            <a:off x="7178040" y="1261872"/>
            <a:ext cx="4434840" cy="830580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fix</a:t>
            </a:r>
            <a:endParaRPr lang="en-US" sz="1460" dirty="0"/>
          </a:p>
        </p:txBody>
      </p:sp>
      <p:sp>
        <p:nvSpPr>
          <p:cNvPr id="8" name="Text 6"/>
          <p:cNvSpPr/>
          <p:nvPr/>
        </p:nvSpPr>
        <p:spPr>
          <a:xfrm>
            <a:off x="640080" y="2092452"/>
            <a:ext cx="278892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area is blank</a:t>
            </a:r>
            <a:endParaRPr lang="en-US" sz="1460" dirty="0"/>
          </a:p>
        </p:txBody>
      </p:sp>
      <p:sp>
        <p:nvSpPr>
          <p:cNvPr id="9" name="Text 7"/>
          <p:cNvSpPr/>
          <p:nvPr/>
        </p:nvSpPr>
        <p:spPr>
          <a:xfrm>
            <a:off x="3429000" y="2092452"/>
            <a:ext cx="374904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mismatch or renderer not assigned</a:t>
            </a:r>
            <a:endParaRPr lang="en-US" sz="1460" dirty="0"/>
          </a:p>
        </p:txBody>
      </p:sp>
      <p:sp>
        <p:nvSpPr>
          <p:cNvPr id="10" name="Text 8"/>
          <p:cNvSpPr/>
          <p:nvPr/>
        </p:nvSpPr>
        <p:spPr>
          <a:xfrm>
            <a:off x="7178040" y="2092452"/>
            <a:ext cx="443484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spelling of input/output IDs</a:t>
            </a:r>
            <a:endParaRPr lang="en-US" sz="1460" dirty="0"/>
          </a:p>
        </p:txBody>
      </p:sp>
      <p:sp>
        <p:nvSpPr>
          <p:cNvPr id="11" name="Text 9"/>
          <p:cNvSpPr/>
          <p:nvPr/>
        </p:nvSpPr>
        <p:spPr>
          <a:xfrm>
            <a:off x="640080" y="2923032"/>
            <a:ext cx="278892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value prints as function</a:t>
            </a:r>
            <a:endParaRPr lang="en-US" sz="1460" dirty="0"/>
          </a:p>
        </p:txBody>
      </p:sp>
      <p:sp>
        <p:nvSpPr>
          <p:cNvPr id="12" name="Text 10"/>
          <p:cNvSpPr/>
          <p:nvPr/>
        </p:nvSpPr>
        <p:spPr>
          <a:xfrm>
            <a:off x="3429000" y="2923032"/>
            <a:ext cx="374904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Forgot parentheses</a:t>
            </a:r>
            <a:endParaRPr lang="en-US" sz="1460" dirty="0"/>
          </a:p>
        </p:txBody>
      </p:sp>
      <p:sp>
        <p:nvSpPr>
          <p:cNvPr id="13" name="Text 11"/>
          <p:cNvSpPr/>
          <p:nvPr/>
        </p:nvSpPr>
        <p:spPr>
          <a:xfrm>
            <a:off x="7178040" y="2923032"/>
            <a:ext cx="443484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data(), not data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640080" y="3753612"/>
            <a:ext cx="278892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crashes before upload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3429000" y="3753612"/>
            <a:ext cx="374904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reads missing file</a:t>
            </a:r>
            <a:endParaRPr lang="en-US" sz="1460" dirty="0"/>
          </a:p>
        </p:txBody>
      </p:sp>
      <p:sp>
        <p:nvSpPr>
          <p:cNvPr id="16" name="Text 14"/>
          <p:cNvSpPr/>
          <p:nvPr/>
        </p:nvSpPr>
        <p:spPr>
          <a:xfrm>
            <a:off x="7178040" y="3753612"/>
            <a:ext cx="443484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req(input$file)</a:t>
            </a:r>
            <a:endParaRPr lang="en-US" sz="1460" dirty="0"/>
          </a:p>
        </p:txBody>
      </p:sp>
      <p:sp>
        <p:nvSpPr>
          <p:cNvPr id="17" name="Text 15"/>
          <p:cNvSpPr/>
          <p:nvPr/>
        </p:nvSpPr>
        <p:spPr>
          <a:xfrm>
            <a:off x="640080" y="4584192"/>
            <a:ext cx="278892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does not update</a:t>
            </a: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3429000" y="4584192"/>
            <a:ext cx="374904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not used inside reactive code</a:t>
            </a:r>
            <a:endParaRPr lang="en-US" sz="1460" dirty="0"/>
          </a:p>
        </p:txBody>
      </p:sp>
      <p:sp>
        <p:nvSpPr>
          <p:cNvPr id="19" name="Text 17"/>
          <p:cNvSpPr/>
          <p:nvPr/>
        </p:nvSpPr>
        <p:spPr>
          <a:xfrm>
            <a:off x="7178040" y="4584192"/>
            <a:ext cx="443484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input$id inside render/reactive</a:t>
            </a:r>
            <a:endParaRPr lang="en-US" sz="1460" dirty="0"/>
          </a:p>
        </p:txBody>
      </p:sp>
      <p:sp>
        <p:nvSpPr>
          <p:cNvPr id="20" name="Text 18"/>
          <p:cNvSpPr/>
          <p:nvPr/>
        </p:nvSpPr>
        <p:spPr>
          <a:xfrm>
            <a:off x="640080" y="5414772"/>
            <a:ext cx="278892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is slow</a:t>
            </a:r>
            <a:endParaRPr lang="en-US" sz="1460" dirty="0"/>
          </a:p>
        </p:txBody>
      </p:sp>
      <p:sp>
        <p:nvSpPr>
          <p:cNvPr id="21" name="Text 19"/>
          <p:cNvSpPr/>
          <p:nvPr/>
        </p:nvSpPr>
        <p:spPr>
          <a:xfrm>
            <a:off x="3429000" y="5414772"/>
            <a:ext cx="374904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 code runs too often</a:t>
            </a: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7178040" y="5414772"/>
            <a:ext cx="4434840" cy="830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4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static work to global scope / create reactive values</a:t>
            </a:r>
            <a:endParaRPr lang="en-US" sz="1460" dirty="0"/>
          </a:p>
        </p:txBody>
      </p:sp>
      <p:sp>
        <p:nvSpPr>
          <p:cNvPr id="24" name="Text 21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 for scientific apps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24128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Prefer a small number of meaningful controls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Show data provenance: source, date, filters, and sample counts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Make units and transformations explicit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defaults that match common biological questions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Include plain-language messages for missing or invalid data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10149840" cy="594360"/>
          </a:xfrm>
          <a:prstGeom prst="rect">
            <a:avLst/>
          </a:prstGeom>
          <a:solidFill>
            <a:srgbClr val="E8F4F6"/>
          </a:solidFill>
          <a:ln w="12700">
            <a:solidFill>
              <a:srgbClr val="D9E2EC"/>
            </a:solidFill>
          </a:ln>
        </p:spPr>
        <p:txBody>
          <a:bodyPr wrap="square" lIns="1905" tIns="1905" rIns="1905" bIns="190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Shiny app is not just interactive; it helps users make fewer analysis mistakes.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topics to explore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2971800" cy="627017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topic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703320" y="1325880"/>
            <a:ext cx="7863840" cy="627017"/>
          </a:xfrm>
          <a:prstGeom prst="rect">
            <a:avLst/>
          </a:prstGeom>
          <a:solidFill>
            <a:srgbClr val="17324D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helps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52897"/>
            <a:ext cx="297180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ggplot2 + Shiny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03320" y="1952897"/>
            <a:ext cx="786384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polished plots with user-selected aesthetics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579914"/>
            <a:ext cx="297180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03320" y="2579914"/>
            <a:ext cx="786384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hover, zoom, and linked exploration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206931"/>
            <a:ext cx="297180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03320" y="3206931"/>
            <a:ext cx="786384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larger apps into reusable pieces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833949"/>
            <a:ext cx="297180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3833949"/>
            <a:ext cx="786384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users export plots and filtered tables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460966"/>
            <a:ext cx="297180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03320" y="4460966"/>
            <a:ext cx="786384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apps with collaborators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087983"/>
            <a:ext cx="297180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Bioconductor objects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03320" y="5087983"/>
            <a:ext cx="7863840" cy="627017"/>
          </a:xfrm>
          <a:prstGeom prst="rect">
            <a:avLst/>
          </a:prstGeom>
          <a:solidFill>
            <a:srgbClr val="FFFFFF"/>
          </a:solidFill>
          <a:ln w="9525">
            <a:solidFill>
              <a:srgbClr val="D9E2E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domain-specific data structures safely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8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10881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3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051560"/>
            <a:ext cx="10927080" cy="22860"/>
          </a:xfrm>
          <a:prstGeom prst="rect">
            <a:avLst/>
          </a:prstGeom>
          <a:solidFill>
            <a:srgbClr val="D9E2EC"/>
          </a:solidFill>
          <a:ln w="12700">
            <a:solidFill>
              <a:srgbClr val="D9E2E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3291840" cy="960120"/>
          </a:xfrm>
          <a:prstGeom prst="rect">
            <a:avLst/>
          </a:prstGeom>
          <a:solidFill>
            <a:srgbClr val="E8F4F6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defines the visible app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434840" y="1508760"/>
            <a:ext cx="3291840" cy="960120"/>
          </a:xfrm>
          <a:prstGeom prst="rect">
            <a:avLst/>
          </a:prstGeom>
          <a:solidFill>
            <a:srgbClr val="F6F7F9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connects inputs to outputs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0" y="1508760"/>
            <a:ext cx="3291840" cy="960120"/>
          </a:xfrm>
          <a:prstGeom prst="rect">
            <a:avLst/>
          </a:prstGeom>
          <a:solidFill>
            <a:srgbClr val="F1ECF8"/>
          </a:solidFill>
          <a:ln w="12700">
            <a:solidFill>
              <a:srgbClr val="D9E2EC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Reactivity keeps results current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752344"/>
            <a:ext cx="100584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matching IDs to connect UI placeholders and server renderers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Put reusable computations in `reactive()` expressions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 `req()` and validation to handle real biological data </a:t>
            </a:r>
            <a:r>
              <a:rPr lang="en-US" sz="24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safely</a:t>
            </a:r>
            <a:r>
              <a:rPr lang="en-US" sz="2400" dirty="0" err="1">
                <a:latin typeface="+mj-lt"/>
              </a:rPr>
              <a:t>A</a:t>
            </a:r>
            <a:r>
              <a:rPr lang="en-US" sz="2400" dirty="0">
                <a:latin typeface="+mj-lt"/>
              </a:rPr>
              <a:t> useful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2224" y="5056632"/>
            <a:ext cx="10647736" cy="1252728"/>
          </a:xfrm>
          <a:prstGeom prst="rect">
            <a:avLst/>
          </a:prstGeom>
          <a:solidFill>
            <a:srgbClr val="FAFBFD"/>
          </a:solidFill>
          <a:ln w="12700">
            <a:solidFill>
              <a:srgbClr val="D9E2EC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first Shiny app is usually a small, clear wrapper around analysis code you already trust.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1201400" y="65928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94360" y="6592824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1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R Shiny for biological data visualization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</TotalTime>
  <Words>1953</Words>
  <Application>Microsoft Macintosh PowerPoint</Application>
  <PresentationFormat>Widescreen</PresentationFormat>
  <Paragraphs>359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 Shiny for Biological Data Visualization</dc:title>
  <dc:subject>Intro to R Shiny for Biological Data Visualization</dc:subject>
  <dc:creator>OpenAI</dc:creator>
  <cp:lastModifiedBy>Epstein, Jacob (NIH/NIA/IRP) [F]</cp:lastModifiedBy>
  <cp:revision>3</cp:revision>
  <dcterms:created xsi:type="dcterms:W3CDTF">2026-05-12T02:43:55Z</dcterms:created>
  <dcterms:modified xsi:type="dcterms:W3CDTF">2026-05-12T13:21:47Z</dcterms:modified>
</cp:coreProperties>
</file>